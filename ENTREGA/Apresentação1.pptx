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57" r:id="rId4"/>
    <p:sldId id="261" r:id="rId5"/>
    <p:sldId id="263" r:id="rId6"/>
    <p:sldId id="260" r:id="rId7"/>
    <p:sldId id="264" r:id="rId8"/>
    <p:sldId id="262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5420" autoAdjust="0"/>
  </p:normalViewPr>
  <p:slideViewPr>
    <p:cSldViewPr snapToGrid="0">
      <p:cViewPr>
        <p:scale>
          <a:sx n="85" d="100"/>
          <a:sy n="85" d="100"/>
        </p:scale>
        <p:origin x="15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042C4-F5ED-4A8F-A41F-FE801DB99EBB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EC92B-4FE1-42A8-8004-56253D991AA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1020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EC92B-4FE1-42A8-8004-56253D991AAE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0240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EC92B-4FE1-42A8-8004-56253D991AAE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39684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EC92B-4FE1-42A8-8004-56253D991AAE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3091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600" dirty="0"/>
              <a:t>Pensei omitir na </a:t>
            </a:r>
            <a:r>
              <a:rPr lang="pt-PT" sz="1600" dirty="0" err="1"/>
              <a:t>database</a:t>
            </a:r>
            <a:r>
              <a:rPr lang="pt-PT" sz="1600" dirty="0"/>
              <a:t> ou no </a:t>
            </a:r>
            <a:r>
              <a:rPr lang="pt-PT" sz="1600" dirty="0" err="1"/>
              <a:t>collector</a:t>
            </a:r>
            <a:r>
              <a:rPr lang="pt-PT" sz="1600" dirty="0"/>
              <a:t> mas apercebi-me que já seria tarde demais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EC92B-4FE1-42A8-8004-56253D991AAE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180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96FD0-FE1E-AF08-C68C-22F131A8B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09266E-9325-00D0-7A87-4925D31C0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220A6CA-54A9-CFB0-F527-431C4400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1F150-07B4-4C7A-9EFE-91E2A81DEB19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7EC6AC5-C4EE-1EB5-262A-5C4114D5F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05574B4-62AD-FA32-A165-B4D9AF67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A5C58-8567-41D8-A4D1-930CAD56E7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9800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F8CCC-B1C8-EEB8-8BC1-6D66C96E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F6A1E12-9559-4A6B-5D02-332334F17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BC6ADBA-82CA-CD48-1974-7E9D68B2B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1F150-07B4-4C7A-9EFE-91E2A81DEB19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0008A5C-B6DD-09C7-2FA8-59BEF7092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3F794B8-07B8-5892-C9BB-1CE7FFFE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A5C58-8567-41D8-A4D1-930CAD56E7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145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F846A-F3F7-AF05-D4C1-5D7A9CD86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12C3365-37B9-F6DA-7B1E-32FFE186C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F0A8ABE-BB05-CCC2-53F7-C50649276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1F150-07B4-4C7A-9EFE-91E2A81DEB19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A2D3826-6994-F5B0-FBE0-04AA1C57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DDA5868-34CA-723B-9D4E-A6CAD4CB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A5C58-8567-41D8-A4D1-930CAD56E7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58676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4EEBC-AAE3-F82D-D580-C9FA4AB6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6CD0A5B-A85A-55A3-33C3-E08536516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B850F3D-BF83-57FE-EEE5-93785ED23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2DBD342-7F8A-409B-1D28-A03EB1C9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1F150-07B4-4C7A-9EFE-91E2A81DEB19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09D4213-4CFC-2D62-B9E7-D1BBFB714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0CF8BC0-8642-723A-CD54-607F3B9A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A5C58-8567-41D8-A4D1-930CAD56E7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64716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50805-4EEB-2DD0-9818-B9E55CC6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A2FFA31-1450-40F5-753D-12AB33B79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95B7300-0505-9A41-43CB-8AF343867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FA4D9320-1CC2-8463-653A-BE4DEAF03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DBB6582-CD00-7422-33EC-50610066F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DDBDB3E0-A03F-C22B-1412-5526D56B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1F150-07B4-4C7A-9EFE-91E2A81DEB19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451C4CF-277A-F1F0-0406-B24693C4B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1479CCFD-FCA1-3743-0082-10E4E90E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A5C58-8567-41D8-A4D1-930CAD56E7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2317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B08E8-4B8E-B884-F68E-2DE6FFCE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46B3BA4E-F475-B80F-50A9-745C70732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1F150-07B4-4C7A-9EFE-91E2A81DEB19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5C30BB7-93A0-9A21-DCBB-B3E9A73FD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66EF504-A6AB-F3CF-F13A-7724FAF95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A5C58-8567-41D8-A4D1-930CAD56E7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741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05E4547-345A-6824-5439-CC9F2DAE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1F150-07B4-4C7A-9EFE-91E2A81DEB19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97EBE39-5749-999C-DABC-3BA9560E1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277A61C-9C10-5FD0-9738-F204FD3B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A5C58-8567-41D8-A4D1-930CAD56E7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321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7DF56-5C8B-CDDF-7EAF-95B989FD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A3851D4-2F21-2315-AF09-8EB156B10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988D474-D623-1CC3-29DD-AA8BE996C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EFBAD27-3C5A-9E38-8E0A-5F7D0D3D5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1F150-07B4-4C7A-9EFE-91E2A81DEB19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E85C081-14AA-A95D-0816-20723001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DC1E86A-D7B1-9D1D-7183-2D03ABEB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A5C58-8567-41D8-A4D1-930CAD56E7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391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7151E-82C9-AFE7-B2C7-94667A9B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5C1E2A3-9D52-2D28-7BDE-A35E9131E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C1B3B2A-DD8D-BEF3-275F-5D8B5FC35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41AB64B-2BC1-E243-6449-67A8E4F5E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1F150-07B4-4C7A-9EFE-91E2A81DEB19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B0B6E51-BCDC-3B0A-1641-874DA4B20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F6E077B-4047-1E42-58F7-E215BDC86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A5C58-8567-41D8-A4D1-930CAD56E7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2936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7F337-1E42-5CB4-237C-5D9D649A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7F4FDDAB-4F34-168F-8FC2-4B4D4340C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1E97F45-67E0-3380-43BC-B6209A77D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1F150-07B4-4C7A-9EFE-91E2A81DEB19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5B05A23-8106-6BDA-25FF-038A2A02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170603E-81DD-973E-3390-9B422F7D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A5C58-8567-41D8-A4D1-930CAD56E7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3288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3EC67D-FFC1-D8E8-73C5-7ABD6088BB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16615BB-AB00-15AB-A835-C7D8E7A0E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46BC91C-C7B9-D4C8-B387-F22272351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1F150-07B4-4C7A-9EFE-91E2A81DEB19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9DC4A34-70F9-936D-E5FF-18539822C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515A240-73B9-2C91-1B21-615D523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A5C58-8567-41D8-A4D1-930CAD56E7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340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5CEB2001-E75C-AE60-8AB3-30A3E6959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70FF455-67DD-3B51-463C-25707B37C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EC8AF69-EA70-5C28-78E6-588D48F5F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81F150-07B4-4C7A-9EFE-91E2A81DEB19}" type="datetimeFigureOut">
              <a:rPr lang="pt-PT" smtClean="0"/>
              <a:t>25/03/2026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76638AC-A2A7-86A1-5025-E6A6F278D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213BF4F-EE02-EB0A-F21C-0F6319415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A5C58-8567-41D8-A4D1-930CAD56E70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953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6F1563-569A-0689-9A75-6E716F05F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1EB84CF0-2868-1701-6D49-24E5409F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7DCF93B6-E752-02ED-84D0-F841E0A34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0402E463-30A4-C161-F560-62D1E9F8C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9F7D1A11-33E7-6840-2F13-78132A422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E9BF227C-F791-806E-D86B-17EFD0EC5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6BA7A48E-B188-1DE7-F35F-787C82D58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D185EFD3-8ECD-F8AF-7797-BBE353B99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1" name="Group 17">
            <a:extLst>
              <a:ext uri="{FF2B5EF4-FFF2-40B4-BE49-F238E27FC236}">
                <a16:creationId xmlns:a16="http://schemas.microsoft.com/office/drawing/2014/main" id="{A12706B0-61A9-5B02-64FD-F0B64831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18">
              <a:extLst>
                <a:ext uri="{FF2B5EF4-FFF2-40B4-BE49-F238E27FC236}">
                  <a16:creationId xmlns:a16="http://schemas.microsoft.com/office/drawing/2014/main" id="{884B71EC-71F5-C30B-9F39-9AE716D34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19">
              <a:extLst>
                <a:ext uri="{FF2B5EF4-FFF2-40B4-BE49-F238E27FC236}">
                  <a16:creationId xmlns:a16="http://schemas.microsoft.com/office/drawing/2014/main" id="{AA51D7B5-9226-32CD-3C92-96C4A0995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7E2CEC66-57A2-FAE5-551D-5F10EBACC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4AEBAB60-E5DD-0496-4027-D8F0D4338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7290DB4E-F4E1-53B0-C481-A86D75BA8271}"/>
              </a:ext>
            </a:extLst>
          </p:cNvPr>
          <p:cNvSpPr txBox="1">
            <a:spLocks/>
          </p:cNvSpPr>
          <p:nvPr/>
        </p:nvSpPr>
        <p:spPr>
          <a:xfrm>
            <a:off x="1523847" y="187658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noProof="0" dirty="0"/>
              <a:t>Assignment 1 </a:t>
            </a:r>
          </a:p>
          <a:p>
            <a:pPr algn="ctr"/>
            <a:r>
              <a:rPr lang="en-US" sz="4000" noProof="0" dirty="0"/>
              <a:t>Observability in the Wild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F6CABFC-8DB0-BD8D-7579-49A6CD0F3F93}"/>
              </a:ext>
            </a:extLst>
          </p:cNvPr>
          <p:cNvSpPr txBox="1">
            <a:spLocks/>
          </p:cNvSpPr>
          <p:nvPr/>
        </p:nvSpPr>
        <p:spPr>
          <a:xfrm>
            <a:off x="9172575" y="6386132"/>
            <a:ext cx="3019120" cy="471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noProof="0" dirty="0"/>
              <a:t>Francisco Costa, 131224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C3459B23-840E-E9BD-4A26-13FF933DD783}"/>
              </a:ext>
            </a:extLst>
          </p:cNvPr>
          <p:cNvSpPr txBox="1">
            <a:spLocks/>
          </p:cNvSpPr>
          <p:nvPr/>
        </p:nvSpPr>
        <p:spPr>
          <a:xfrm>
            <a:off x="1523847" y="401834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noProof="0" dirty="0" err="1"/>
              <a:t>Arquitetura</a:t>
            </a:r>
            <a:r>
              <a:rPr lang="en-US" noProof="0" dirty="0"/>
              <a:t> de Sistemas</a:t>
            </a:r>
          </a:p>
          <a:p>
            <a:pPr marL="0" indent="0" algn="ctr">
              <a:buNone/>
            </a:pPr>
            <a:r>
              <a:rPr lang="en-US" noProof="0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1839051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3B0F71-590B-E0B8-E8C5-AA3B098F7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30EF1CC1-3446-E81A-66A9-F9AB3259B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E66F3F89-31F6-AFB9-19E4-3FE38D2C3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B2DCD48D-8716-D654-7BE2-C8BC40DE0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6176A9BE-904A-5A3D-AF39-31B44DD5D7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A07CCE95-4974-A2DA-014E-DE2494A06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8102E46D-5310-C0B9-8677-B85D17DAF1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4E50560C-35A3-5A75-3BCD-4D0B9FBC9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1" name="Group 17">
            <a:extLst>
              <a:ext uri="{FF2B5EF4-FFF2-40B4-BE49-F238E27FC236}">
                <a16:creationId xmlns:a16="http://schemas.microsoft.com/office/drawing/2014/main" id="{489A88B3-3B0B-23B4-D247-21B8264EA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18">
              <a:extLst>
                <a:ext uri="{FF2B5EF4-FFF2-40B4-BE49-F238E27FC236}">
                  <a16:creationId xmlns:a16="http://schemas.microsoft.com/office/drawing/2014/main" id="{5F140B99-52F2-4800-5B72-DCB8E473FC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19">
              <a:extLst>
                <a:ext uri="{FF2B5EF4-FFF2-40B4-BE49-F238E27FC236}">
                  <a16:creationId xmlns:a16="http://schemas.microsoft.com/office/drawing/2014/main" id="{B06CC654-0532-292F-14BB-CF3242D143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1C9FE22A-D680-B498-984E-66F6FB4A4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9401B8E6-3B3F-F6AF-363B-77E125317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A5463478-B021-2CBE-A99C-3B5C8C3CAB94}"/>
              </a:ext>
            </a:extLst>
          </p:cNvPr>
          <p:cNvSpPr txBox="1">
            <a:spLocks/>
          </p:cNvSpPr>
          <p:nvPr/>
        </p:nvSpPr>
        <p:spPr>
          <a:xfrm>
            <a:off x="1523847" y="2235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noProof="0" dirty="0"/>
              <a:t>Problem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7197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E0BDFF-0A6A-757E-3034-7895B303E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190" y="4282069"/>
            <a:ext cx="9833548" cy="2457269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Costumer places an order</a:t>
            </a:r>
          </a:p>
          <a:p>
            <a:pPr lvl="1"/>
            <a:r>
              <a:rPr lang="en-US" sz="2800" noProof="0" dirty="0">
                <a:solidFill>
                  <a:schemeClr val="tx2"/>
                </a:solidFill>
              </a:rPr>
              <a:t>PII Risk Management</a:t>
            </a:r>
          </a:p>
          <a:p>
            <a:pPr lvl="1"/>
            <a:r>
              <a:rPr lang="en-US" sz="2800" noProof="0" dirty="0">
                <a:solidFill>
                  <a:schemeClr val="tx2"/>
                </a:solidFill>
              </a:rPr>
              <a:t>Most critical area of the platform</a:t>
            </a:r>
          </a:p>
          <a:p>
            <a:pPr marL="0" indent="0">
              <a:buNone/>
            </a:pPr>
            <a:r>
              <a:rPr lang="en-US" sz="2400" noProof="0" dirty="0">
                <a:solidFill>
                  <a:schemeClr val="tx2"/>
                </a:solidFill>
              </a:rPr>
              <a:t>	</a:t>
            </a:r>
          </a:p>
        </p:txBody>
      </p:sp>
      <p:grpSp>
        <p:nvGrpSpPr>
          <p:cNvPr id="31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46160FF6-1E45-242C-4F2A-576EB7A945F8}"/>
              </a:ext>
            </a:extLst>
          </p:cNvPr>
          <p:cNvSpPr txBox="1"/>
          <p:nvPr/>
        </p:nvSpPr>
        <p:spPr>
          <a:xfrm>
            <a:off x="11830355" y="6488669"/>
            <a:ext cx="36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3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C4CB5E-A96D-EBA6-804A-D25152573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190" y="444858"/>
            <a:ext cx="9833548" cy="1325563"/>
          </a:xfrm>
        </p:spPr>
        <p:txBody>
          <a:bodyPr anchor="b">
            <a:normAutofit/>
          </a:bodyPr>
          <a:lstStyle/>
          <a:p>
            <a:r>
              <a:rPr lang="en-US" sz="3600" noProof="0" dirty="0">
                <a:solidFill>
                  <a:schemeClr val="tx2"/>
                </a:solidFill>
              </a:rPr>
              <a:t>Problem and Flow</a:t>
            </a:r>
          </a:p>
        </p:txBody>
      </p:sp>
      <p:sp>
        <p:nvSpPr>
          <p:cNvPr id="5" name="Marcador de Posição de Conteúdo 2">
            <a:extLst>
              <a:ext uri="{FF2B5EF4-FFF2-40B4-BE49-F238E27FC236}">
                <a16:creationId xmlns:a16="http://schemas.microsoft.com/office/drawing/2014/main" id="{8C3DF35A-656E-ACDA-D84B-9AEE643B3CE6}"/>
              </a:ext>
            </a:extLst>
          </p:cNvPr>
          <p:cNvSpPr txBox="1">
            <a:spLocks/>
          </p:cNvSpPr>
          <p:nvPr/>
        </p:nvSpPr>
        <p:spPr>
          <a:xfrm>
            <a:off x="739748" y="2200365"/>
            <a:ext cx="9833548" cy="1887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 err="1">
                <a:solidFill>
                  <a:schemeClr val="tx2"/>
                </a:solidFill>
              </a:rPr>
              <a:t>nopCommerce</a:t>
            </a:r>
            <a:r>
              <a:rPr lang="en-US" noProof="0" dirty="0">
                <a:solidFill>
                  <a:schemeClr val="tx2"/>
                </a:solidFill>
              </a:rPr>
              <a:t> is a popular e-commerce platform</a:t>
            </a:r>
          </a:p>
          <a:p>
            <a:pPr lvl="1"/>
            <a:r>
              <a:rPr lang="en-US" sz="2800" noProof="0" dirty="0">
                <a:solidFill>
                  <a:schemeClr val="tx2"/>
                </a:solidFill>
              </a:rPr>
              <a:t>But it has no way to observe what is happening</a:t>
            </a:r>
            <a:endParaRPr lang="en-US" noProof="0" dirty="0">
              <a:solidFill>
                <a:schemeClr val="tx2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noProof="0" dirty="0">
                <a:solidFill>
                  <a:schemeClr val="tx2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16131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ECE27-9EB8-F8AF-EB64-2485EE608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A424354A-2D3F-107E-E16D-CE1230FB7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96A162D3-9A14-2557-DA4F-9C916189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53569B8E-94D9-5666-F677-7FF91FA76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0340BED9-1A2B-B818-A367-94F06439B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60238D31-446B-1BD3-EED8-F08F6221F1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C5AE74EB-F846-41C8-9B71-22DE37C10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9E83B84D-9E9C-9D57-8A0E-4577A9E23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8A42826-5AB5-BFFD-538B-92AA30750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190" y="2597385"/>
            <a:ext cx="9980960" cy="24572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noProof="0" dirty="0">
                <a:solidFill>
                  <a:schemeClr val="tx2"/>
                </a:solidFill>
                <a:latin typeface="Aptos (corpo)"/>
              </a:rPr>
              <a:t>Spans</a:t>
            </a:r>
          </a:p>
          <a:p>
            <a:pPr marL="0" indent="0">
              <a:buNone/>
            </a:pPr>
            <a:r>
              <a:rPr lang="en-US" noProof="0" dirty="0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noProof="0" dirty="0" err="1">
                <a:solidFill>
                  <a:schemeClr val="tx2"/>
                </a:solidFill>
                <a:latin typeface="Consolas" panose="020B0609020204030204" pitchFamily="49" charset="0"/>
              </a:rPr>
              <a:t>checkout.place_order</a:t>
            </a:r>
            <a:endParaRPr lang="en-US" noProof="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noProof="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>
                <a:solidFill>
                  <a:schemeClr val="tx2"/>
                </a:solidFill>
                <a:latin typeface="Aptos (corpo)"/>
              </a:rPr>
              <a:t>Metrics</a:t>
            </a:r>
          </a:p>
          <a:p>
            <a:pPr marL="0" indent="0">
              <a:buNone/>
            </a:pPr>
            <a:r>
              <a:rPr lang="en-US" noProof="0" dirty="0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noProof="0" dirty="0" err="1">
                <a:solidFill>
                  <a:schemeClr val="tx2"/>
                </a:solidFill>
                <a:latin typeface="Consolas" panose="020B0609020204030204" pitchFamily="49" charset="0"/>
              </a:rPr>
              <a:t>checkout_orders_total</a:t>
            </a:r>
            <a:br>
              <a:rPr lang="en-US" noProof="0" dirty="0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noProof="0" dirty="0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noProof="0" dirty="0" err="1">
                <a:solidFill>
                  <a:schemeClr val="tx2"/>
                </a:solidFill>
                <a:latin typeface="Consolas" panose="020B0609020204030204" pitchFamily="49" charset="0"/>
              </a:rPr>
              <a:t>checkout_payment_duration_ms</a:t>
            </a:r>
            <a:br>
              <a:rPr lang="en-US" noProof="0" dirty="0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noProof="0" dirty="0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noProof="0" dirty="0" err="1">
                <a:solidFill>
                  <a:schemeClr val="tx2"/>
                </a:solidFill>
                <a:latin typeface="Consolas" panose="020B0609020204030204" pitchFamily="49" charset="0"/>
              </a:rPr>
              <a:t>checkout_order_failures_total</a:t>
            </a:r>
            <a:endParaRPr lang="en-US" noProof="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grpSp>
        <p:nvGrpSpPr>
          <p:cNvPr id="31" name="Group 17">
            <a:extLst>
              <a:ext uri="{FF2B5EF4-FFF2-40B4-BE49-F238E27FC236}">
                <a16:creationId xmlns:a16="http://schemas.microsoft.com/office/drawing/2014/main" id="{6B000475-C4FE-1765-9342-B32BB6D80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18">
              <a:extLst>
                <a:ext uri="{FF2B5EF4-FFF2-40B4-BE49-F238E27FC236}">
                  <a16:creationId xmlns:a16="http://schemas.microsoft.com/office/drawing/2014/main" id="{43D2CF82-C77C-CB4B-5BAC-F1A958D8D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19">
              <a:extLst>
                <a:ext uri="{FF2B5EF4-FFF2-40B4-BE49-F238E27FC236}">
                  <a16:creationId xmlns:a16="http://schemas.microsoft.com/office/drawing/2014/main" id="{B04DF634-437D-A8F7-1305-3E66DFF70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6475E2F8-A1C8-6133-60C1-F2855CA9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C109080A-B2A9-50EB-E069-2E838A590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0998828F-78EC-C6F8-B4B8-95D51C991781}"/>
              </a:ext>
            </a:extLst>
          </p:cNvPr>
          <p:cNvSpPr txBox="1"/>
          <p:nvPr/>
        </p:nvSpPr>
        <p:spPr>
          <a:xfrm>
            <a:off x="11830355" y="6488669"/>
            <a:ext cx="36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4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F5CE61-DF0B-4D13-392B-909F67D3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190" y="444858"/>
            <a:ext cx="9833548" cy="1325563"/>
          </a:xfrm>
        </p:spPr>
        <p:txBody>
          <a:bodyPr anchor="b">
            <a:normAutofit/>
          </a:bodyPr>
          <a:lstStyle/>
          <a:p>
            <a:r>
              <a:rPr lang="en-US" sz="3600" noProof="0" dirty="0">
                <a:solidFill>
                  <a:schemeClr val="tx2"/>
                </a:solidFill>
              </a:rPr>
              <a:t>Used Spans and Metrics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7338EF8-23B6-96A7-F7EC-878191664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675" y="511756"/>
            <a:ext cx="6803005" cy="616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05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1249A-0CA0-CADA-4493-EBCC91C8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FEDF54AB-76B0-20F0-E157-0211A6CD7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509DA60F-36C7-9FB3-7133-808CDEAA9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DB4894B5-078A-9A16-EFB0-553DDB2D9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645F7AEF-5C8A-7C28-E455-4F26380F0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BA19E710-B894-6990-E959-8BA17444B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ACF91FC9-BC30-E969-2D7B-EFA17A298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F8CFE54C-A345-26B1-107C-EA5B8D048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2E8029B-98FC-9FB5-DFF0-7E2DAD439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190" y="2597385"/>
            <a:ext cx="9980960" cy="32378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>
                <a:solidFill>
                  <a:schemeClr val="tx2"/>
                </a:solidFill>
                <a:latin typeface="Aptos (corpo)"/>
              </a:rPr>
              <a:t>Some omitted elements: name, email, phone, address, payment</a:t>
            </a:r>
          </a:p>
          <a:p>
            <a:pPr marL="0" indent="0">
              <a:buNone/>
            </a:pPr>
            <a:endParaRPr lang="en-US" sz="2400" noProof="0" dirty="0">
              <a:solidFill>
                <a:schemeClr val="tx2"/>
              </a:solidFill>
              <a:latin typeface="Aptos (corpo)"/>
            </a:endParaRPr>
          </a:p>
          <a:p>
            <a:pPr marL="0" indent="0">
              <a:buNone/>
            </a:pPr>
            <a:r>
              <a:rPr lang="en-US" sz="2400" noProof="0" dirty="0">
                <a:solidFill>
                  <a:schemeClr val="tx2"/>
                </a:solidFill>
                <a:latin typeface="Aptos (corpo)"/>
              </a:rPr>
              <a:t>Elements not omitted: order id, product id</a:t>
            </a:r>
          </a:p>
          <a:p>
            <a:pPr marL="0" indent="0">
              <a:buNone/>
            </a:pPr>
            <a:endParaRPr lang="en-US" sz="2400" noProof="0" dirty="0">
              <a:solidFill>
                <a:schemeClr val="tx2"/>
              </a:solidFill>
              <a:latin typeface="Aptos (corpo)"/>
            </a:endParaRPr>
          </a:p>
          <a:p>
            <a:pPr marL="0" indent="0">
              <a:buNone/>
            </a:pPr>
            <a:r>
              <a:rPr lang="en-US" sz="2400" noProof="0" dirty="0">
                <a:solidFill>
                  <a:schemeClr val="tx2"/>
                </a:solidFill>
                <a:latin typeface="Aptos (corpo)"/>
              </a:rPr>
              <a:t>PII excluded at SDK level, before sending to the collector</a:t>
            </a:r>
          </a:p>
          <a:p>
            <a:pPr marL="0" indent="0">
              <a:buNone/>
            </a:pPr>
            <a:r>
              <a:rPr lang="en-US" sz="2400" noProof="0" dirty="0">
                <a:solidFill>
                  <a:schemeClr val="tx2"/>
                </a:solidFill>
                <a:latin typeface="Aptos (corpo)"/>
              </a:rPr>
              <a:t>	Considered excluding from database and collector</a:t>
            </a:r>
          </a:p>
        </p:txBody>
      </p:sp>
      <p:grpSp>
        <p:nvGrpSpPr>
          <p:cNvPr id="31" name="Group 17">
            <a:extLst>
              <a:ext uri="{FF2B5EF4-FFF2-40B4-BE49-F238E27FC236}">
                <a16:creationId xmlns:a16="http://schemas.microsoft.com/office/drawing/2014/main" id="{9F3D17C3-18C1-B990-609D-8C8BB3AF4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18">
              <a:extLst>
                <a:ext uri="{FF2B5EF4-FFF2-40B4-BE49-F238E27FC236}">
                  <a16:creationId xmlns:a16="http://schemas.microsoft.com/office/drawing/2014/main" id="{82CD715A-5156-4ABB-2F61-46B59C5F1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19">
              <a:extLst>
                <a:ext uri="{FF2B5EF4-FFF2-40B4-BE49-F238E27FC236}">
                  <a16:creationId xmlns:a16="http://schemas.microsoft.com/office/drawing/2014/main" id="{43835303-11F2-EC31-D71D-351FB0281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60774803-C016-DA1D-6B5E-D47BE910B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61867068-41D6-6D73-7DD0-2EE701CA9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680E4E-1096-F723-0F67-CA9D018BF63A}"/>
              </a:ext>
            </a:extLst>
          </p:cNvPr>
          <p:cNvSpPr txBox="1"/>
          <p:nvPr/>
        </p:nvSpPr>
        <p:spPr>
          <a:xfrm>
            <a:off x="11830355" y="6488669"/>
            <a:ext cx="36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C05CCF-41BE-6BB8-F696-BA0E99B2D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190" y="444858"/>
            <a:ext cx="9833548" cy="1325563"/>
          </a:xfrm>
        </p:spPr>
        <p:txBody>
          <a:bodyPr anchor="b">
            <a:normAutofit/>
          </a:bodyPr>
          <a:lstStyle/>
          <a:p>
            <a:r>
              <a:rPr lang="en-US" sz="3600" noProof="0" dirty="0">
                <a:solidFill>
                  <a:schemeClr val="tx2"/>
                </a:solidFill>
              </a:rPr>
              <a:t>PII</a:t>
            </a:r>
          </a:p>
        </p:txBody>
      </p:sp>
    </p:spTree>
    <p:extLst>
      <p:ext uri="{BB962C8B-B14F-4D97-AF65-F5344CB8AC3E}">
        <p14:creationId xmlns:p14="http://schemas.microsoft.com/office/powerpoint/2010/main" val="56258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BF672E-BF6F-3AC3-7CFE-7637948C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3F252486-EB1A-B52D-F9B9-89E42E308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08FD2FA9-9064-6DD9-37A8-94218E843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6B909AEB-E2F2-7C48-DA61-3091EBF3F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6EB883B3-CF33-F681-F403-C57A6C5A8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0F3EC126-56C5-A661-A83A-D9D265CD8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3BAE53A6-9374-7DC0-4728-B03C0442C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EA71C5A9-C810-6E19-860E-D5330FE0A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1" name="Group 17">
            <a:extLst>
              <a:ext uri="{FF2B5EF4-FFF2-40B4-BE49-F238E27FC236}">
                <a16:creationId xmlns:a16="http://schemas.microsoft.com/office/drawing/2014/main" id="{32E51097-9860-D7D7-D6A6-C09253A8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18">
              <a:extLst>
                <a:ext uri="{FF2B5EF4-FFF2-40B4-BE49-F238E27FC236}">
                  <a16:creationId xmlns:a16="http://schemas.microsoft.com/office/drawing/2014/main" id="{33139B91-4960-5711-B373-D5145CA39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19">
              <a:extLst>
                <a:ext uri="{FF2B5EF4-FFF2-40B4-BE49-F238E27FC236}">
                  <a16:creationId xmlns:a16="http://schemas.microsoft.com/office/drawing/2014/main" id="{8F3703E8-EF6C-67E9-6FF9-35106725C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A3C96057-4D33-F80B-2366-AEC6EC604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02D37F75-EB7D-61B8-B78D-3CEDBC8A2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1AECCE6A-496C-2549-4EAC-5553B0CB9A70}"/>
              </a:ext>
            </a:extLst>
          </p:cNvPr>
          <p:cNvSpPr txBox="1">
            <a:spLocks/>
          </p:cNvSpPr>
          <p:nvPr/>
        </p:nvSpPr>
        <p:spPr>
          <a:xfrm>
            <a:off x="1523847" y="2235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err="1"/>
              <a:t>Loadtest</a:t>
            </a:r>
            <a:r>
              <a:rPr lang="en-US" sz="4000" dirty="0"/>
              <a:t> &amp; Live </a:t>
            </a:r>
            <a:r>
              <a:rPr lang="en-US" sz="4000" noProof="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301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C66F4-F691-15C9-0E45-A2AE84868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2A78384E-6041-4B1F-489A-F8406D8C0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6B886D3E-A55D-6291-22BE-9B510AA63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ACFFEA0B-DB19-ADCF-CD68-A65D00734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1E3DF510-EAEB-1B1B-F3A4-D084D8291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00B6EDAC-218D-E625-CF7F-7CCDA1367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A632C513-E363-1752-94FC-4DFF91268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4C7E4687-1D51-F12E-9D2B-C3EE029D65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1" name="Group 17">
            <a:extLst>
              <a:ext uri="{FF2B5EF4-FFF2-40B4-BE49-F238E27FC236}">
                <a16:creationId xmlns:a16="http://schemas.microsoft.com/office/drawing/2014/main" id="{35B67887-8F15-2E85-1013-1E865D179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18">
              <a:extLst>
                <a:ext uri="{FF2B5EF4-FFF2-40B4-BE49-F238E27FC236}">
                  <a16:creationId xmlns:a16="http://schemas.microsoft.com/office/drawing/2014/main" id="{BD1C10FC-B272-D957-648F-DFFDD0623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19">
              <a:extLst>
                <a:ext uri="{FF2B5EF4-FFF2-40B4-BE49-F238E27FC236}">
                  <a16:creationId xmlns:a16="http://schemas.microsoft.com/office/drawing/2014/main" id="{3CCC490F-1491-E800-B941-84C804EC2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78F812D1-27E1-96FB-2C00-4E3B6A5279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A8879846-E565-D2B1-FB15-44B2E6ACF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9D66E56-B447-18D1-B780-FC4CA576253A}"/>
              </a:ext>
            </a:extLst>
          </p:cNvPr>
          <p:cNvSpPr txBox="1"/>
          <p:nvPr/>
        </p:nvSpPr>
        <p:spPr>
          <a:xfrm>
            <a:off x="11830355" y="6488669"/>
            <a:ext cx="36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19F698-0138-F218-9CF6-B4F5BBCF5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190" y="444858"/>
            <a:ext cx="9833548" cy="1325563"/>
          </a:xfrm>
        </p:spPr>
        <p:txBody>
          <a:bodyPr anchor="b">
            <a:normAutofit/>
          </a:bodyPr>
          <a:lstStyle/>
          <a:p>
            <a:r>
              <a:rPr lang="en-US" sz="3600" noProof="0" dirty="0" err="1">
                <a:solidFill>
                  <a:schemeClr val="tx2"/>
                </a:solidFill>
              </a:rPr>
              <a:t>Loadtest</a:t>
            </a:r>
            <a:endParaRPr lang="en-US" sz="3600" noProof="0" dirty="0">
              <a:solidFill>
                <a:schemeClr val="tx2"/>
              </a:solidFill>
            </a:endParaRPr>
          </a:p>
        </p:txBody>
      </p:sp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91B1C49D-9072-1266-F67F-C1654159C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k6</a:t>
            </a:r>
          </a:p>
          <a:p>
            <a:endParaRPr lang="en-US" noProof="0" dirty="0"/>
          </a:p>
          <a:p>
            <a:r>
              <a:rPr lang="en-US" noProof="0" dirty="0"/>
              <a:t>Stage 1: Ramp up</a:t>
            </a:r>
          </a:p>
          <a:p>
            <a:pPr lvl="1"/>
            <a:r>
              <a:rPr lang="en-US" noProof="0" dirty="0"/>
              <a:t> 30 seconds</a:t>
            </a:r>
          </a:p>
          <a:p>
            <a:pPr lvl="1"/>
            <a:r>
              <a:rPr lang="en-US" dirty="0"/>
              <a:t>0 – 8 VUs</a:t>
            </a:r>
            <a:endParaRPr lang="en-US" noProof="0" dirty="0"/>
          </a:p>
          <a:p>
            <a:r>
              <a:rPr lang="en-US" noProof="0" dirty="0"/>
              <a:t>Stage 2: Sustained load</a:t>
            </a:r>
          </a:p>
          <a:p>
            <a:pPr lvl="1"/>
            <a:r>
              <a:rPr lang="en-US" noProof="0" dirty="0"/>
              <a:t>1 minute</a:t>
            </a:r>
          </a:p>
          <a:p>
            <a:pPr lvl="1"/>
            <a:r>
              <a:rPr lang="en-US" noProof="0" dirty="0"/>
              <a:t>8 VUs</a:t>
            </a:r>
          </a:p>
          <a:p>
            <a:r>
              <a:rPr lang="en-US" dirty="0"/>
              <a:t>Stage 3: Ramp down</a:t>
            </a:r>
          </a:p>
          <a:p>
            <a:pPr lvl="1"/>
            <a:r>
              <a:rPr lang="en-US" noProof="0" dirty="0"/>
              <a:t>30 seconds</a:t>
            </a:r>
          </a:p>
          <a:p>
            <a:pPr lvl="1"/>
            <a:r>
              <a:rPr lang="en-US" dirty="0"/>
              <a:t>8 – 0 VUs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41403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5A15C-264C-E813-3AA6-03FA337E0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4610991B-2D8E-0E58-3EB0-5018133E2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602AE11F-D57C-021A-8A0C-C425F814A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380E03B0-F97C-3FA8-3898-C5B637DDA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97D84F1E-B970-37D2-4CBB-37AF7E582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80E749BD-5216-5EC3-535F-8F9762B59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89728742-3A8C-3E84-59A5-927422041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76EA286B-091A-6D95-FB04-812F3DA41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1" name="Group 17">
            <a:extLst>
              <a:ext uri="{FF2B5EF4-FFF2-40B4-BE49-F238E27FC236}">
                <a16:creationId xmlns:a16="http://schemas.microsoft.com/office/drawing/2014/main" id="{E40D7B2A-6565-5FD4-8039-A3C8B16DC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18">
              <a:extLst>
                <a:ext uri="{FF2B5EF4-FFF2-40B4-BE49-F238E27FC236}">
                  <a16:creationId xmlns:a16="http://schemas.microsoft.com/office/drawing/2014/main" id="{420E242E-18EB-C197-8C74-1C165A4B84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19">
              <a:extLst>
                <a:ext uri="{FF2B5EF4-FFF2-40B4-BE49-F238E27FC236}">
                  <a16:creationId xmlns:a16="http://schemas.microsoft.com/office/drawing/2014/main" id="{F41DB4F1-C913-359E-4335-1DDF7B006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E75FE2CB-32FF-7FC9-2E40-BE723BD95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54DA7AD3-97A8-3883-5FD1-1659C22FC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6451F8-CCBC-BAD3-6F19-FB4C8A3BD462}"/>
              </a:ext>
            </a:extLst>
          </p:cNvPr>
          <p:cNvSpPr txBox="1"/>
          <p:nvPr/>
        </p:nvSpPr>
        <p:spPr>
          <a:xfrm>
            <a:off x="11830355" y="6488669"/>
            <a:ext cx="36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</a:t>
            </a:r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90C224-E06C-2E45-DFDD-0163ECDE1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190" y="444858"/>
            <a:ext cx="9833548" cy="1325563"/>
          </a:xfrm>
        </p:spPr>
        <p:txBody>
          <a:bodyPr anchor="b">
            <a:normAutofit/>
          </a:bodyPr>
          <a:lstStyle/>
          <a:p>
            <a:r>
              <a:rPr lang="en-US" sz="3600" noProof="0" dirty="0">
                <a:solidFill>
                  <a:schemeClr val="tx2"/>
                </a:solidFill>
              </a:rPr>
              <a:t>Dashboard</a:t>
            </a:r>
          </a:p>
        </p:txBody>
      </p:sp>
      <p:pic>
        <p:nvPicPr>
          <p:cNvPr id="18" name="Marcador de Posição de Conteúdo 17">
            <a:extLst>
              <a:ext uri="{FF2B5EF4-FFF2-40B4-BE49-F238E27FC236}">
                <a16:creationId xmlns:a16="http://schemas.microsoft.com/office/drawing/2014/main" id="{B825869D-8DD3-6DD4-5AB4-E189FDF57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190" y="1998936"/>
            <a:ext cx="10515600" cy="388268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24B88E8-B2C6-764D-635F-334C01FB5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64" y="2826521"/>
            <a:ext cx="11686766" cy="23510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9253061B-94A8-31A2-22FA-FB83220ED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50" y="2141274"/>
            <a:ext cx="11359079" cy="389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190</Words>
  <Application>Microsoft Office PowerPoint</Application>
  <PresentationFormat>Ecrã Panorâmico</PresentationFormat>
  <Paragraphs>51</Paragraphs>
  <Slides>8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4" baseType="lpstr">
      <vt:lpstr>Aptos</vt:lpstr>
      <vt:lpstr>Aptos (corpo)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  <vt:lpstr>Problem and Flow</vt:lpstr>
      <vt:lpstr>Used Spans and Metrics</vt:lpstr>
      <vt:lpstr>PII</vt:lpstr>
      <vt:lpstr>Apresentação do PowerPoint</vt:lpstr>
      <vt:lpstr>Loadtest</vt:lpstr>
      <vt:lpstr>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Costa</dc:creator>
  <cp:lastModifiedBy>Francisco França</cp:lastModifiedBy>
  <cp:revision>4</cp:revision>
  <dcterms:created xsi:type="dcterms:W3CDTF">2026-03-24T17:21:37Z</dcterms:created>
  <dcterms:modified xsi:type="dcterms:W3CDTF">2026-03-25T10:35:23Z</dcterms:modified>
</cp:coreProperties>
</file>